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8ccc4378d44d1a" /><Relationship Type="http://schemas.openxmlformats.org/officeDocument/2006/relationships/extended-properties" Target="/docProps/app.xml" Id="R249cb52ab7f44a4e" /><Relationship Type="http://schemas.openxmlformats.org/officeDocument/2006/relationships/officeDocument" Target="/ppt/presentation.xml" Id="R3ff8f0f28f8f4f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955b8cd42d422e"/>
  </p:sldMasterIdLst>
  <p:notesMasterIdLst>
    <p:notesMasterId xmlns:r="http://schemas.openxmlformats.org/officeDocument/2006/relationships" r:id="R5471c33c55384bfc"/>
  </p:notesMasterIdLst>
  <p:sldIdLst>
    <p:sldId xmlns:r="http://schemas.openxmlformats.org/officeDocument/2006/relationships" id="256" r:id="Rccd2a05207f445dd"/>
    <p:sldId xmlns:r="http://schemas.openxmlformats.org/officeDocument/2006/relationships" id="257" r:id="R1174d171e4ca4450"/>
    <p:sldId xmlns:r="http://schemas.openxmlformats.org/officeDocument/2006/relationships" id="258" r:id="Rbff5612df1cd46b0"/>
    <p:sldId xmlns:r="http://schemas.openxmlformats.org/officeDocument/2006/relationships" id="259" r:id="R8695827e5f06469c"/>
    <p:sldId xmlns:r="http://schemas.openxmlformats.org/officeDocument/2006/relationships" id="260" r:id="Rff1f156e3a354c5c"/>
    <p:sldId xmlns:r="http://schemas.openxmlformats.org/officeDocument/2006/relationships" id="261" r:id="R457170e12a4241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948b2bff0a44f7" /><Relationship Type="http://schemas.openxmlformats.org/officeDocument/2006/relationships/slideMaster" Target="/ppt/slideMasters/slideMaster1.xml" Id="Rf9955b8cd42d422e" /><Relationship Type="http://schemas.openxmlformats.org/officeDocument/2006/relationships/notesMaster" Target="/ppt/notesMasters/notesMaster1.xml" Id="R5471c33c55384bfc" /><Relationship Type="http://schemas.openxmlformats.org/officeDocument/2006/relationships/presProps" Target="/ppt/presProps.xml" Id="R82030e2345014a90" /><Relationship Type="http://schemas.openxmlformats.org/officeDocument/2006/relationships/tableStyles" Target="/ppt/tableStyles.xml" Id="Rbb4cb37c5f2c450a" /><Relationship Type="http://schemas.openxmlformats.org/officeDocument/2006/relationships/slide" Target="/ppt/slides/slide1.xml" Id="Rccd2a05207f445dd" /><Relationship Type="http://schemas.openxmlformats.org/officeDocument/2006/relationships/slide" Target="/ppt/slides/slide2.xml" Id="R1174d171e4ca4450" /><Relationship Type="http://schemas.openxmlformats.org/officeDocument/2006/relationships/slide" Target="/ppt/slides/slide3.xml" Id="Rbff5612df1cd46b0" /><Relationship Type="http://schemas.openxmlformats.org/officeDocument/2006/relationships/slide" Target="/ppt/slides/slide4.xml" Id="R8695827e5f06469c" /><Relationship Type="http://schemas.openxmlformats.org/officeDocument/2006/relationships/slide" Target="/ppt/slides/slide5.xml" Id="Rff1f156e3a354c5c" /><Relationship Type="http://schemas.openxmlformats.org/officeDocument/2006/relationships/slide" Target="/ppt/slides/slide6.xml" Id="R457170e12a4241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66e27e9a144d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b5af17a8d14571" /><Relationship Type="http://schemas.openxmlformats.org/officeDocument/2006/relationships/notesMaster" Target="/ppt/notesMasters/notesMaster1.xml" Id="R735b9e2c630145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81ec089bdc4930" /><Relationship Type="http://schemas.openxmlformats.org/officeDocument/2006/relationships/notesMaster" Target="/ppt/notesMasters/notesMaster1.xml" Id="R8825dbf2cbd643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93a3d919f04c14" /><Relationship Type="http://schemas.openxmlformats.org/officeDocument/2006/relationships/notesMaster" Target="/ppt/notesMasters/notesMaster1.xml" Id="R29a340bc67cf4b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a916a3b89e4356" /><Relationship Type="http://schemas.openxmlformats.org/officeDocument/2006/relationships/notesMaster" Target="/ppt/notesMasters/notesMaster1.xml" Id="Re52b1da3ceaa46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3260f98fae4d87" /><Relationship Type="http://schemas.openxmlformats.org/officeDocument/2006/relationships/notesMaster" Target="/ppt/notesMasters/notesMaster1.xml" Id="R42db4e6eef6d47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41823c25c0474d" /><Relationship Type="http://schemas.openxmlformats.org/officeDocument/2006/relationships/notesMaster" Target="/ppt/notesMasters/notesMaster1.xml" Id="R61f2c9d5936648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AI-assisted factual draft for participant review. Evidence scope: 2026-10-04 23:46 UTC, including the package check ending 23:46:12.484363Z. Final product candidate 3329a823 is rejected, no stage accepted, and workers are stopped. Public release and final submission are not established.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Factory objective and terminal outcome</a:t>
            </a:r>
          </a:p>
          <a:p xmlns:a="http://schemas.openxmlformats.org/drawingml/2006/main">
            <a:r>
              <a:t>Seven separate identities were configured. This does not imply seven material product contributors; Designer and Frontend have no completed later-stage product work. One active model turn limits shared-checkout write conflicts. Effort is medium except Architect, QA and Reviewer high. One all-stage dispatch occurred at 2026-10-04T21:06:55.943682Z in room 12cde259-0fcd-4551-84c7-52c443cb5600. The terminal product disposition is STOP/REPLAN after three repairs, not four-stage completion. Application attempts share the private canonical Tablekeeper repository on independent branches; this attempt is run-5, factory tools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/Users/frank/mygit/Tablekeeper/runs/run5-preparation-20261004/packaging/FACTORY.draft.md</a:t>
            </a:r>
          </a:p>
          <a:p xmlns:a="http://schemas.openxmlformats.org/drawingml/2006/main">
            <a:r>
              <a:t>/Users/frank/mygit/Tablekeeper/factory/evidence/run5-launch-20261004/launch/dispatch-verification.json</a:t>
            </a:r>
          </a:p>
          <a:p xmlns:a="http://schemas.openxmlformats.org/drawingml/2006/main">
            <a:r>
              <a:t>https://github.com/Xuefeng-Zhu/Tablekeeper/tree/run-5</a:t>
            </a:r>
          </a:p>
          <a:p xmlns:a="http://schemas.openxmlformats.org/drawingml/2006/main">
            <a:r>
              <a:t>https://github.com/Xuefeng-Zhu/Tablekeeper-factory/tree/main/evidence/run5-terminal-closure-20261004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Private source links may require repository access. This presentation is not room-video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AI-assisted factual draft for participant review. Evidence scope: 2026-10-04 23:46 UTC, including the package check ending 23:46:12.484363Z. Final product candidate 3329a823 is rejected, no stage accepted, and workers are stopped. Public release and final submission are not established.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Recorded stop and real room still</a:t>
            </a:r>
          </a:p>
          <a:p xmlns:a="http://schemas.openxmlformats.org/drawingml/2006/main">
            <a:r>
              <a:t>The original terminal-outcome.jpg is preserved byte-for-byte and shown uncropped. SHA-256 787944ce9efe0e6a9baad772decc2a38a4850c3e8295d6ad2e0a924eb7e93832, 157457 bytes. Provenance saved_at 2026-10-04T23:36:19.173495Z. Visible PM handoff ACK f735f446-38ec-4b2d-9659-ed0bff32497c, team stop 493ace48-7d8b-469d-ad82-6fb063e05a0f, and public final fe9e5ec6-69c5-4871-868f-284fdf84cceb at 23:29:24.626626Z. The screenshot shows Docker checks blocked at that assigned gate; later operator verification is separately explained on slide 5. A receipt proves complete transport, not correct implementation. The still is not video or a fabricated playback.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/Users/frank/mygit/Tablekeeper/runs/run5-preparation-20261004/packaging/media/terminal-outcome.provenance.json</a:t>
            </a:r>
          </a:p>
          <a:p xmlns:a="http://schemas.openxmlformats.org/drawingml/2006/main">
            <a:r>
              <a:t>/Users/frank/mygit/Tablekeeper/factory/evidence/run5-terminal-closure-20261004/media/terminal-outcome.jpg</a:t>
            </a:r>
          </a:p>
          <a:p xmlns:a="http://schemas.openxmlformats.org/drawingml/2006/main">
            <a:r>
              <a:t>/Users/frank/mygit/Tablekeeper/factory/mandates/factory-pm.md</a:t>
            </a:r>
          </a:p>
          <a:p xmlns:a="http://schemas.openxmlformats.org/drawingml/2006/main">
            <a:r>
              <a:t>/Users/frank/mygit/Tablekeeper/factory/mandates/factory-reviewer.md</a:t>
            </a:r>
          </a:p>
          <a:p xmlns:a="http://schemas.openxmlformats.org/drawingml/2006/main">
            <a:r>
              <a:t>https://github.com/Xuefeng-Zhu/Tablekeeper-factory/tree/main/evidence/run5-terminal-closure-20261004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Private source links may require repository access. This presentation is not room-video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AI-assisted factual draft for participant review. Evidence scope: 2026-10-04 23:46 UTC, including the package check ending 23:46:12.484363Z. Final product candidate 3329a823 is rejected, no stage accepted, and workers are stopped. Public release and final submission are not established.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terminal product decision</a:t>
            </a:r>
          </a:p>
          <a:p xmlns:a="http://schemas.openxmlformats.org/drawingml/2006/main">
            <a:r>
              <a:t>Independent Reviewer final at 23:26:43 UTC rejects candidate 3329a8238ece53e06812cce4b5c6222476dd33ab. Record-only closeout 350e3d95855a7b10eacafd59fca67ffaf48a348e preserves Stage 1 tree 13192852a7341f8d7e6b2bc6076c9e59cfa3843b. A create receipt with request party_size 2 still imports a contradictory response 3; a batch move requesting table z still imports a historical response table t. Both replace destination and replay altered responses instead of rejecting invalid import. Related historical local/absolute time and duration contradictions also remain. This compares each request with its own historical response, not current amended bookings. Original receipt shape/identity cases closed but the broader family did not. Reviewer host results: original repro 58/58 (three old conditional assertions no longer execute), 11/11 baseline groups, two injected mechanism groups; extended 125 PASS/6 FAIL; direct pair confirmation 2 PASS/4 FAIL. These overlap and are not one combined score. All product repairs are exhausted; no fourth repair or later-stage advance follows from unused budget or green samples.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/Users/frank/mygit/Tablekeeper/runs/run5-preparation-20261004/packaging/presentation/assets/gate-stage-1-final-review.md</a:t>
            </a:r>
          </a:p>
          <a:p xmlns:a="http://schemas.openxmlformats.org/drawingml/2006/main">
            <a:r>
              <a:t>https://github.com/Xuefeng-Zhu/Tablekeeper/blob/350e3d95855a7b10eacafd59fca67ffaf48a348e/records/stage-1-stop.md</a:t>
            </a:r>
          </a:p>
          <a:p xmlns:a="http://schemas.openxmlformats.org/drawingml/2006/main">
            <a:r>
              <a:t>https://github.com/Xuefeng-Zhu/Tablekeeper/blob/350e3d95855a7b10eacafd59fca67ffaf48a348e/records/gate-stage-1-final-review.md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Private source links may require repository access. This presentation is not room-video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AI-assisted factual draft for participant review. Evidence scope: 2026-10-04 23:46 UTC, including the package check ending 23:46:12.484363Z. Final product candidate 3329a823 is rejected, no stage accepted, and workers are stopped. Public release and final submission are not established.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OOM and both operator interventions</a:t>
            </a:r>
          </a:p>
          <a:p xmlns:a="http://schemas.openxmlformats.org/drawingml/2006/main">
            <a:r>
              <a:t>At 22:07:51.903833782Z the architecture review container was OOM-killed under a 1024 MiB global OrbStack ceiling despite a 2 GiB per-container setting. Docker responsiveness recovered before the first operator restart. At 22:30 the operator set 4096 MiB and activated it with one stop/start at 22:31:18–22:31:24; the same two verified original containers were restored. At the user request, a second stop/start at 22:49:06–22:49:11 activated 2048 MiB and restored those IDs. Docker then reported 2073866240 bytes total VM memory. Both interrupted containers; state/session continuity was not tested. VM overhead means this global cap is not itself proof of a full 2 GiB application allowance. No operator product code edits or BAND instructions accompanied these actions. After the terminal run, the two Backend-owned test containers were stopped at 23:37 without deletion or VM setting changes; later supplied-suite verification did not erase the interventions or establish full resource/performance conformance.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/Users/frank/mygit/Tablekeeper/factory/evidence/run5-orbstack-memory-repair-20261004/README.md</a:t>
            </a:r>
          </a:p>
          <a:p xmlns:a="http://schemas.openxmlformats.org/drawingml/2006/main">
            <a:r>
              <a:t>/Users/frank/mygit/Tablekeeper/factory/evidence/run5-user-2g-cap-20261004/orbstack-user-2g-cap.json</a:t>
            </a:r>
          </a:p>
          <a:p xmlns:a="http://schemas.openxmlformats.org/drawingml/2006/main">
            <a:r>
              <a:t>/Users/frank/mygit/Tablekeeper/factory/evidence/run5-terminal-closure-20261004/owned-test-containers-stopped.json</a:t>
            </a:r>
          </a:p>
          <a:p xmlns:a="http://schemas.openxmlformats.org/drawingml/2006/main">
            <a:r>
              <a:t>https://github.com/Xuefeng-Zhu/Tablekeeper-factory/tree/main/evidence/run5-orbstack-memory-repair-20261004</a:t>
            </a:r>
          </a:p>
          <a:p xmlns:a="http://schemas.openxmlformats.org/drawingml/2006/main">
            <a:r>
              <a:t>https://github.com/Xuefeng-Zhu/Tablekeeper-factory/tree/main/evidence/run5-user-2g-cap-20261004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Private source links may require repository access. This presentation is not room-video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AI-assisted factual draft for participant review. Evidence scope: 2026-10-04 23:46 UTC, including the package check ending 23:46:12.484363Z. Final product candidate 3329a823 is rejected, no stage accepted, and workers are stopped. Public release and final submission are not established.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Post-run official isolated and offline package evidence</a:t>
            </a:r>
          </a:p>
          <a:p xmlns:a="http://schemas.openxmlformats.org/drawingml/2006/main">
            <a:r>
              <a:t>After worker shutdown, operator fresh clone at closeout 350e3d95855a7b10eacafd59fca67ffaf48a348e remained clean, exact Stage 1 tree 13192852a7341f8d7e6b2bc6076c9e59cfa3843b unchanged. Official command python -m harness run --track tablekeeper --repo &lt;fresh clone&gt; --all --mode isolated ran 23:38:15.483787–23:38:56.297110 UTC, exit 0, user OrbStack memory 2048 MiB unchanged. Stage 1 report: 120 collected, 120 passed, 0 failed/errors/skipped/deselected; summary contains only folder 1. Automatic Stage 2 overshoot probe collected 25, passed 0, failed 1 and stopped; no Stage 2 source folder or credit. The harness highest_contiguous 1 describes supplied checks only; independent accepted-stage count remains zero. This is new operator evidence, separate from the assigned gate historical Docker blocker. It does not cover the independently demonstrated import contradictions or broader heavy-state/resource/latency requirements. A subsequent offline harness check of the metadata package ran 23:46:11.992480–23:46:12.484363 UTC, exit 0; staged root tree 3853266bd4829ab423a534ff942151a1ff871be8 and product tree unchanged. That check covers layout/room/mandates/credential patterns, not product acceptance or publication. A final package Git push or submission is not claimed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/Users/frank/mygit/Tablekeeper/factory/evidence/run5-postrun-isolated-20261004/isolated-command.json</a:t>
            </a:r>
          </a:p>
          <a:p xmlns:a="http://schemas.openxmlformats.org/drawingml/2006/main">
            <a:r>
              <a:t>/Users/frank/mygit/Tablekeeper/factory/evidence/run5-postrun-isolated-20261004/isolated-all/stage-1/report.json</a:t>
            </a:r>
          </a:p>
          <a:p xmlns:a="http://schemas.openxmlformats.org/drawingml/2006/main">
            <a:r>
              <a:t>/Users/frank/mygit/Tablekeeper/factory/evidence/run5-postrun-isolated-20261004/isolated-all/summary.json</a:t>
            </a:r>
          </a:p>
          <a:p xmlns:a="http://schemas.openxmlformats.org/drawingml/2006/main">
            <a:r>
              <a:t>/Users/frank/mygit/Tablekeeper/runs/run5-preparation-20261004/packaging/presentation/assets/package-check.json</a:t>
            </a:r>
          </a:p>
          <a:p xmlns:a="http://schemas.openxmlformats.org/drawingml/2006/main">
            <a:r>
              <a:t>https://github.com/Xuefeng-Zhu/Tablekeeper-factory/tree/main/evidence/run5-postrun-isolated-20261004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Private source links may require repository access. This presentation is not room-video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AI-assisted factual draft for participant review. Evidence scope: 2026-10-04 23:46 UTC, including the package check ending 23:46:12.484363Z. Final product candidate 3329a823 is rejected, no stage accepted, and workers are stopped. Public release and final submission are not established.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accounting, export and remaining submission limits</a:t>
            </a:r>
          </a:p>
          <a:p xmlns:a="http://schemas.openxmlformats.org/drawingml/2006/main">
            <a:r>
              <a:t>Authoritative factory ledger: Run 5 reported tokens 75831611, including input 75633435 (74291200 cached, 1342235 uncached) and output 198176. Cached input is about 97.9686% of reported total; do not add it again. Reasoning output is already a subset of output. Cumulative final total 221514710 equals baseline 145683099 plus Run 5. Pinned BAND SDK display mapping differs; use the reconciled factory ledger, not an additional sum of displayed counters. No USD or ChatGPT quota conversion is available. Dispatch 21:06:55.943682 to PM final 23:29:24.626626 = 8548.682944 seconds, rounded on slide to 2h22m29s; through stop at23:33:07.598829 = 8771.655147 seconds. All seven contexts drained; no owned parent/children alive after stop. Ledger unchanged before/after, SHA13631cb7cde562f45029c659cff613fc5f61c1d256bb77717dc41ecfbf2394f2. Exported23:33:31.490Z, full scope room12cde259-0fcd-4551-84c7-52c443cb5600, 7505750 bytes, SHA c934ff785a565d1198a12c9a806217897217046f317dc9ef961730a647ef3e3e, 4602 unique events and195 text events. Exactly one User text is original dispatch d5861cdd-0b57-4393-a97f-0dfb9201cec2; PM final present. Bounded privacy review at23:39:52.891765Z found no actionable keys/JWT/private-key/cookie/unclassified credential values; other matches were public fixtures/synthetic tests/prose. Private preservation only, not exhaustive absence proof or public-release approval. Participant deferred genuine room video; a still/deck does not replace it. No public release, final submission or human-authorship claim is made. The full four-stage product and required UI remain incomplete.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/Users/frank/mygit/Tablekeeper/factory/evidence/run5-terminal-closure-20261004/final-accounting.json</a:t>
            </a:r>
          </a:p>
          <a:p xmlns:a="http://schemas.openxmlformats.org/drawingml/2006/main">
            <a:r>
              <a:t>/Users/frank/mygit/Tablekeeper/factory/evidence/run5-terminal-closure-20261004/closure-receipt.json</a:t>
            </a:r>
          </a:p>
          <a:p xmlns:a="http://schemas.openxmlformats.org/drawingml/2006/main">
            <a:r>
              <a:t>/Users/frank/mygit/Tablekeeper/factory/evidence/run5-terminal-closure-20261004/room-download-receipt.json</a:t>
            </a:r>
          </a:p>
          <a:p xmlns:a="http://schemas.openxmlformats.org/drawingml/2006/main">
            <a:r>
              <a:t>/Users/frank/mygit/Tablekeeper/factory/evidence/run5-terminal-closure-20261004/room-privacy-review.json</a:t>
            </a:r>
          </a:p>
          <a:p xmlns:a="http://schemas.openxmlformats.org/drawingml/2006/main">
            <a:r>
              <a:t>https://github.com/Xuefeng-Zhu/Tablekeeper-factory/tree/main/evidence/run5-terminal-closure-20261004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Private source links may require repository access. This presentation is not room-video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299d6fb4343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3f0c4dfa1e4aeb" /><Relationship Type="http://schemas.openxmlformats.org/officeDocument/2006/relationships/slideLayout" Target="/ppt/slideLayouts/slideLayout1.xml" Id="Rf1e1a1a9606c4f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e1a1a9606c4f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ad7a991f64813" /><Relationship Type="http://schemas.openxmlformats.org/officeDocument/2006/relationships/notesSlide" Target="/ppt/notesSlides/notesSlide1.xml" Id="R3c190bd0790042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a07505dd648bb" /><Relationship Type="http://schemas.openxmlformats.org/officeDocument/2006/relationships/image" Target="/ppt/media/image.jpeg" Id="Rbab0a7aa366744c8" /><Relationship Type="http://schemas.openxmlformats.org/officeDocument/2006/relationships/notesSlide" Target="/ppt/notesSlides/notesSlide2.xml" Id="R88d32062204748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aeed493a74273" /><Relationship Type="http://schemas.openxmlformats.org/officeDocument/2006/relationships/notesSlide" Target="/ppt/notesSlides/notesSlide3.xml" Id="Rd61493b5ca8644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aca8482d64bab" /><Relationship Type="http://schemas.openxmlformats.org/officeDocument/2006/relationships/notesSlide" Target="/ppt/notesSlides/notesSlide4.xml" Id="R53b26ccd977b44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67d64115a4ab1" /><Relationship Type="http://schemas.openxmlformats.org/officeDocument/2006/relationships/notesSlide" Target="/ppt/notesSlides/notesSlide5.xml" Id="R0048d42bdb6b4c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8d7af8f7741b2" /><Relationship Type="http://schemas.openxmlformats.org/officeDocument/2006/relationships/notesSlide" Target="/ppt/notesSlides/notesSlide6.xml" Id="R6d8c162b811c43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raft-footer">
            <a:extLst xmlns:a="http://schemas.openxmlformats.org/drawingml/2006/main">
              <a:ext uri="{FF2B5EF4-FFF2-40B4-BE49-F238E27FC236}">
                <a16:creationId xmlns:a16="http://schemas.microsoft.com/office/drawing/2014/main" id="{96764527-A324-4290-9729-F5ECC821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DCE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DCECA"/>
                </a:solidFill>
                <a:latin typeface="Helvetica Neue"/>
                <a:ea typeface="Helvetica Neue"/>
                <a:cs typeface="Helvetica Neue"/>
              </a:rPr>
              <a:t>DRAFT / 04 Oct 2026 23:46 UTC / 01</a:t>
            </a:r>
          </a:p>
        </p:txBody>
      </p:sp>
      <p:sp>
        <p:nvSpPr>
          <p:cNvPr id="2" name="team">
            <a:extLst xmlns:a="http://schemas.openxmlformats.org/drawingml/2006/main">
              <a:ext uri="{FF2B5EF4-FFF2-40B4-BE49-F238E27FC236}">
                <a16:creationId xmlns:a16="http://schemas.microsoft.com/office/drawing/2014/main" id="{711A4392-6B2F-48E7-A8F9-7CFE9CDD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MillieMoon</a:t>
            </a:r>
          </a:p>
        </p:txBody>
      </p:sp>
      <p:sp>
        <p:nvSpPr>
          <p:cNvPr id="3" name="subject">
            <a:extLst xmlns:a="http://schemas.openxmlformats.org/drawingml/2006/main">
              <a:ext uri="{FF2B5EF4-FFF2-40B4-BE49-F238E27FC236}">
                <a16:creationId xmlns:a16="http://schemas.microsoft.com/office/drawing/2014/main" id="{52442D9A-00A8-4278-81C9-E8565C0A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B8DA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B8DAD0"/>
                </a:solidFill>
                <a:latin typeface="Helvetica Neue"/>
                <a:ea typeface="Helvetica Neue"/>
                <a:cs typeface="Helvetica Neue"/>
              </a:rPr>
              <a:t>Tablekeeper / Run 5 outcome</a:t>
            </a:r>
          </a:p>
        </p:txBody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07A6C5BA-ECC8-479A-BCB2-B9C75226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Seven BAND seats configured for four stages.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Outcome: 0 accepted; Stages 2–4 unimplemented.</a:t>
            </a:r>
          </a:p>
        </p:txBody>
      </p:sp>
      <p:sp>
        <p:nvSpPr>
          <p:cNvPr id="5" name="seven">
            <a:extLst xmlns:a="http://schemas.openxmlformats.org/drawingml/2006/main">
              <a:ext uri="{FF2B5EF4-FFF2-40B4-BE49-F238E27FC236}">
                <a16:creationId xmlns:a16="http://schemas.microsoft.com/office/drawing/2014/main" id="{E1A10B9B-1A79-4171-B075-22299137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9525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B8DA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0" b="1">
                <a:solidFill>
                  <a:srgbClr val="B8DAD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registered">
            <a:extLst xmlns:a="http://schemas.openxmlformats.org/drawingml/2006/main">
              <a:ext uri="{FF2B5EF4-FFF2-40B4-BE49-F238E27FC236}">
                <a16:creationId xmlns:a16="http://schemas.microsoft.com/office/drawing/2014/main" id="{C5895D29-1629-4AB8-8905-F4AE61B2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814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registered roles</a:t>
            </a:r>
          </a:p>
        </p:txBody>
      </p:sp>
      <p:sp>
        <p:nvSpPr>
          <p:cNvPr id="7" name="one">
            <a:extLst xmlns:a="http://schemas.openxmlformats.org/drawingml/2006/main">
              <a:ext uri="{FF2B5EF4-FFF2-40B4-BE49-F238E27FC236}">
                <a16:creationId xmlns:a16="http://schemas.microsoft.com/office/drawing/2014/main" id="{208CB88F-93CD-4D3E-93E4-3269F781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81425"/>
            <a:ext cx="9525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B8DA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0" b="1">
                <a:solidFill>
                  <a:srgbClr val="B8DAD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active">
            <a:extLst xmlns:a="http://schemas.openxmlformats.org/drawingml/2006/main">
              <a:ext uri="{FF2B5EF4-FFF2-40B4-BE49-F238E27FC236}">
                <a16:creationId xmlns:a16="http://schemas.microsoft.com/office/drawing/2014/main" id="{99E0D653-18AA-4264-A351-84896F20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48125"/>
            <a:ext cx="3695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active model seat at a time</a:t>
            </a:r>
          </a:p>
        </p:txBody>
      </p:sp>
      <p:sp>
        <p:nvSpPr>
          <p:cNvPr id="9" name="roles">
            <a:extLst xmlns:a="http://schemas.openxmlformats.org/drawingml/2006/main">
              <a:ext uri="{FF2B5EF4-FFF2-40B4-BE49-F238E27FC236}">
                <a16:creationId xmlns:a16="http://schemas.microsoft.com/office/drawing/2014/main" id="{1EE0F459-F32F-4038-A5F5-E8D3D4FF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PM / Architect / Designer / Backend / Frontend / QA / Reviewer</a:t>
            </a:r>
          </a:p>
        </p:txBody>
      </p:sp>
      <p:sp>
        <p:nvSpPr>
          <p:cNvPr id="10" name="runtime">
            <a:extLst xmlns:a="http://schemas.openxmlformats.org/drawingml/2006/main">
              <a:ext uri="{FF2B5EF4-FFF2-40B4-BE49-F238E27FC236}">
                <a16:creationId xmlns:a16="http://schemas.microsoft.com/office/drawing/2014/main" id="{34935DB1-A75D-46AB-9FEE-F0A23C12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DCE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BDCECA"/>
                </a:solidFill>
                <a:latin typeface="Helvetica Neue"/>
                <a:ea typeface="Helvetica Neue"/>
                <a:cs typeface="Helvetica Neue"/>
              </a:rPr>
              <a:t>All seven configured with Codex 0.160.0 / gpt-6-astra. BAND SDK 4.0.0.</a:t>
            </a:r>
          </a:p>
        </p:txBody>
      </p:sp>
    </p:spTree>
    <p:extLst>
      <p:ext uri="{BB962C8B-B14F-4D97-AF65-F5344CB8AC3E}">
        <p14:creationId xmlns:p14="http://schemas.microsoft.com/office/powerpoint/2010/main" val="1358648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92B36347-3EF0-48CF-A253-6FFEC000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Complete handoffs led to a recorded stop</a:t>
            </a:r>
          </a:p>
        </p:txBody>
      </p:sp>
      <p:sp>
        <p:nvSpPr>
          <p:cNvPr id="2" name="draft-footer">
            <a:extLst xmlns:a="http://schemas.openxmlformats.org/drawingml/2006/main">
              <a:ext uri="{FF2B5EF4-FFF2-40B4-BE49-F238E27FC236}">
                <a16:creationId xmlns:a16="http://schemas.microsoft.com/office/drawing/2014/main" id="{71DF8B6B-8533-43C8-9E96-9B98443C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DRAFT / 04 Oct 2026 23:46 UTC / 02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287CA0F1-C4C3-4838-9BDC-F2C837F2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rPr>
              <a:t>1  Assignment</a:t>
            </a:r>
          </a:p>
        </p:txBody>
      </p:sp>
      <p:sp>
        <p:nvSpPr>
          <p:cNvPr id="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5B874AE0-054B-4614-BAF0-6CEFBF32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PM sends full requirements,</a:t>
            </a:r>
          </a:p>
          <a:p xmlns:a="http://schemas.openxmlformats.org/drawingml/2006/main">
            <a:pPr>
              <a:def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revision, owner and limits.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BA1BBA35-7A61-499B-9AF5-BCE8A703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rPr>
              <a:t>2  Receipt</a:t>
            </a:r>
          </a:p>
        </p:txBody>
      </p:sp>
      <p:sp>
        <p:nvSpPr>
          <p:cNvPr id="6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7724EAA-8546-4EE7-9078-A50EC275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The peer checks every part</a:t>
            </a:r>
          </a:p>
          <a:p xmlns:a="http://schemas.openxmlformats.org/drawingml/2006/main">
            <a:pPr>
              <a:def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and acknowledges its digest.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212BE84E-AB57-4522-94BA-8BB54173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rPr>
              <a:t>3  Candidate</a:t>
            </a:r>
          </a:p>
        </p:txBody>
      </p:sp>
      <p:sp>
        <p:nvSpPr>
          <p:cNvPr id="8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3ECED5-E71D-48BC-B579-EB94A899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The owner returns a commit</a:t>
            </a:r>
          </a:p>
          <a:p xmlns:a="http://schemas.openxmlformats.org/drawingml/2006/main">
            <a:pPr>
              <a:def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with commands and results.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C627B364-9547-4933-AD10-51CF65DE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rPr>
              <a:t>4  Release gate</a:t>
            </a:r>
          </a:p>
        </p:txBody>
      </p:sp>
      <p:sp>
        <p:nvSpPr>
          <p:cNvPr id="10" name="step-body-3">
            <a:extLst xmlns:a="http://schemas.openxmlformats.org/drawingml/2006/main">
              <a:ext uri="{FF2B5EF4-FFF2-40B4-BE49-F238E27FC236}">
                <a16:creationId xmlns:a16="http://schemas.microsoft.com/office/drawing/2014/main" id="{5706B319-7D30-47CB-80D3-F8176D55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Reviewer rejects; PM records</a:t>
            </a:r>
          </a:p>
          <a:p xmlns:a="http://schemas.openxmlformats.org/drawingml/2006/main">
            <a:pPr>
              <a:def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STOP at the repair limit.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0a7aa366744c8"/>
          <a:stretch xmlns:a="http://schemas.openxmlformats.org/drawingml/2006/main"/>
        </p:blipFill>
        <p:spPr>
          <a:xfrm xmlns:a="http://schemas.openxmlformats.org/drawingml/2006/main">
            <a:off x="3810000" y="1812766"/>
            <a:ext cx="7772400" cy="3632518"/>
          </a:xfrm>
          <a:prstGeom xmlns:a="http://schemas.openxmlformats.org/drawingml/2006/main" prst="rect">
            <a:avLst/>
          </a:prstGeom>
        </p:spPr>
      </p:pic>
      <p:sp>
        <p:nvSpPr>
          <p:cNvPr id="12" name="still-caption">
            <a:extLst xmlns:a="http://schemas.openxmlformats.org/drawingml/2006/main">
              <a:ext uri="{FF2B5EF4-FFF2-40B4-BE49-F238E27FC236}">
                <a16:creationId xmlns:a16="http://schemas.microsoft.com/office/drawing/2014/main" id="{DAF73BF2-CC0D-45CA-B5F8-FFF09E41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76900"/>
            <a:ext cx="7772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Real Run 5 room: PM rejection and stop at 23:29 UTC.</a:t>
            </a:r>
          </a:p>
          <a:p xmlns:a="http://schemas.openxmlformats.org/drawingml/2006/main">
            <a:pPr>
              <a:defRPr sz="15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Screenshot saved 23:36 UTC; this is not a video.</a:t>
            </a:r>
          </a:p>
        </p:txBody>
      </p:sp>
    </p:spTree>
    <p:extLst>
      <p:ext uri="{BB962C8B-B14F-4D97-AF65-F5344CB8AC3E}">
        <p14:creationId xmlns:p14="http://schemas.microsoft.com/office/powerpoint/2010/main" val="1978136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B7A78A6-DF3D-4262-9CC0-F282527B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Stage 1 rejected after the final repair</a:t>
            </a:r>
          </a:p>
        </p:txBody>
      </p:sp>
      <p:sp>
        <p:nvSpPr>
          <p:cNvPr id="2" name="draft-footer">
            <a:extLst xmlns:a="http://schemas.openxmlformats.org/drawingml/2006/main">
              <a:ext uri="{FF2B5EF4-FFF2-40B4-BE49-F238E27FC236}">
                <a16:creationId xmlns:a16="http://schemas.microsoft.com/office/drawing/2014/main" id="{92F7751F-C005-4009-A107-1945D985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DRAFT / 04 Oct 2026 23:46 UTC / 03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0CFE984-DA84-4953-8C1A-26C99853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B5B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9B5B1A"/>
                </a:solidFill>
                <a:latin typeface="Helvetica Neue"/>
                <a:ea typeface="Helvetica Neue"/>
                <a:cs typeface="Helvetica Neue"/>
              </a:rPr>
              <a:t>Independent gate / exact candidate 3329a823 / repair 3 of 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9432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334000"/>
                <a:gridCol w="5638800"/>
              </a:tblGrid>
              <a:tr h="514350"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Finding</a:t>
                      </a:r>
                    </a:p>
                  </a:txBody>
                  <a:tcPr marL="91440" marR="91440" marT="45720" marB="45720" anchor="ctr">
                    <a:solidFill>
                      <a:srgbClr val="102D32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independent review</a:t>
                      </a:r>
                    </a:p>
                  </a:txBody>
                  <a:tcPr marL="91440" marR="91440" marT="45720" marB="45720" anchor="ctr">
                    <a:solidFill>
                      <a:srgbClr val="102D32"/>
                    </a:solidFill>
                  </a:tcPr>
                </a:tc>
              </a:tr>
              <a:tr h="781050"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Fixture numeric error handling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Closed in observed host checks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</a:tr>
              <a:tr h="781050"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Very large fixture integers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Closed in observed host checks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</a:tr>
              <a:tr h="866775"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Historical receipt consistency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Still accepts contradictions on import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candidate">
            <a:extLst xmlns:a="http://schemas.openxmlformats.org/drawingml/2006/main">
              <a:ext uri="{FF2B5EF4-FFF2-40B4-BE49-F238E27FC236}">
                <a16:creationId xmlns:a16="http://schemas.microsoft.com/office/drawing/2014/main" id="{656C54AF-29C7-4547-9DDA-DC6979A1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B5B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9B5B1A"/>
                </a:solidFill>
                <a:latin typeface="Helvetica Neue"/>
                <a:ea typeface="Helvetica Neue"/>
                <a:cs typeface="Helvetica Neue"/>
              </a:rPr>
              <a:t>Rejected 3329a823 / record-only closeout 350e3d9</a:t>
            </a:r>
          </a:p>
        </p:txBody>
      </p:sp>
      <p:sp>
        <p:nvSpPr>
          <p:cNvPr id="6" name="progress">
            <a:extLst xmlns:a="http://schemas.openxmlformats.org/drawingml/2006/main">
              <a:ext uri="{FF2B5EF4-FFF2-40B4-BE49-F238E27FC236}">
                <a16:creationId xmlns:a16="http://schemas.microsoft.com/office/drawing/2014/main" id="{68F0DE51-44C2-4D0F-9607-AE3D07D4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Repairs 3/3 exhausted. No accepted stage or Stage 2–4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057966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674D740-0555-4BC8-B9E2-517D8A82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Two operator infrastructure interventions</a:t>
            </a:r>
          </a:p>
        </p:txBody>
      </p:sp>
      <p:sp>
        <p:nvSpPr>
          <p:cNvPr id="2" name="draft-footer">
            <a:extLst xmlns:a="http://schemas.openxmlformats.org/drawingml/2006/main">
              <a:ext uri="{FF2B5EF4-FFF2-40B4-BE49-F238E27FC236}">
                <a16:creationId xmlns:a16="http://schemas.microsoft.com/office/drawing/2014/main" id="{6A115848-5320-42D4-AFA8-EEE7042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DRAFT / 04 Oct 2026 23:46 UTC / 04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D3BE1E5-50BE-45E7-94EF-729AAC08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5B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9B5B1A"/>
                </a:solidFill>
                <a:latin typeface="Helvetica Neue"/>
                <a:ea typeface="Helvetica Neue"/>
                <a:cs typeface="Helvetica Neue"/>
              </a:rPr>
              <a:t>The run includes human infrastructure work after dispatch.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71625"/>
                <a:gridCol w="2095500"/>
                <a:gridCol w="7305675"/>
              </a:tblGrid>
              <a:tr h="514350"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UTC</a:t>
                      </a:r>
                    </a:p>
                  </a:txBody>
                  <a:tcPr marL="91440" marR="91440" marT="45720" marB="45720" anchor="ctr">
                    <a:solidFill>
                      <a:srgbClr val="102D32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Global VM cap</a:t>
                      </a:r>
                    </a:p>
                  </a:txBody>
                  <a:tcPr marL="91440" marR="91440" marT="45720" marB="45720" anchor="ctr">
                    <a:solidFill>
                      <a:srgbClr val="102D32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action</a:t>
                      </a:r>
                    </a:p>
                  </a:txBody>
                  <a:tcPr marL="91440" marR="91440" marT="45720" marB="45720" anchor="ctr">
                    <a:solidFill>
                      <a:srgbClr val="102D32"/>
                    </a:solidFill>
                  </a:tcPr>
                </a:tc>
              </a:tr>
              <a:tr h="838200"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22:07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1,024 MiB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Architecture review container exits after an out-of-memory kill.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</a:tr>
              <a:tr h="838200"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22:31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4,096 MiB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Operator restarts OrbStack and restores the same two containers.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</a:tr>
              <a:tr h="838200"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22:49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2,048 MiB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 requests the lower cap. Operator restarts and restores again.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resource-warning">
            <a:extLst xmlns:a="http://schemas.openxmlformats.org/drawingml/2006/main">
              <a:ext uri="{FF2B5EF4-FFF2-40B4-BE49-F238E27FC236}">
                <a16:creationId xmlns:a16="http://schemas.microsoft.com/office/drawing/2014/main" id="{EF912FB6-A73A-4051-8D97-47563B92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5B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9B5B1A"/>
                </a:solidFill>
                <a:latin typeface="Helvetica Neue"/>
                <a:ea typeface="Helvetica Neue"/>
                <a:cs typeface="Helvetica Neue"/>
              </a:rPr>
              <a:t>The current 2 GiB global cap also covers VM and daemon overhead.</a:t>
            </a:r>
          </a:p>
        </p:txBody>
      </p:sp>
      <p:sp>
        <p:nvSpPr>
          <p:cNvPr id="6" name="autonomy-limit">
            <a:extLst xmlns:a="http://schemas.openxmlformats.org/drawingml/2006/main">
              <a:ext uri="{FF2B5EF4-FFF2-40B4-BE49-F238E27FC236}">
                <a16:creationId xmlns:a16="http://schemas.microsoft.com/office/drawing/2014/main" id="{90891B41-57ED-4AB3-AF44-F7D3B347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State continuity remains unverified. Fully autonomous execution is not claimed.</a:t>
            </a:r>
          </a:p>
        </p:txBody>
      </p:sp>
    </p:spTree>
    <p:extLst>
      <p:ext uri="{BB962C8B-B14F-4D97-AF65-F5344CB8AC3E}">
        <p14:creationId xmlns:p14="http://schemas.microsoft.com/office/powerpoint/2010/main" val="1688537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F7DD687-D954-4116-B3D7-117BCB81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120/120 supplied checks passed after the stop</a:t>
            </a:r>
          </a:p>
        </p:txBody>
      </p:sp>
      <p:sp>
        <p:nvSpPr>
          <p:cNvPr id="2" name="draft-footer">
            <a:extLst xmlns:a="http://schemas.openxmlformats.org/drawingml/2006/main">
              <a:ext uri="{FF2B5EF4-FFF2-40B4-BE49-F238E27FC236}">
                <a16:creationId xmlns:a16="http://schemas.microsoft.com/office/drawing/2014/main" id="{2A6C5A0F-DD11-4656-A1DE-67F03DEF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DRAFT / 04 Oct 2026 23:46 UTC / 05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247E5CE-4E9E-4A37-B27A-D89011C2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7A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7A6E"/>
                </a:solidFill>
                <a:latin typeface="Helvetica Neue"/>
                <a:ea typeface="Helvetica Neue"/>
                <a:cs typeface="Helvetica Neue"/>
              </a:rPr>
              <a:t>Post-run operator verification / unchanged Stage 1 product tree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171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3000375"/>
                <a:gridCol w="5019675"/>
              </a:tblGrid>
              <a:tr h="514350"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02D32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solidFill>
                      <a:srgbClr val="102D32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scope</a:t>
                      </a:r>
                    </a:p>
                  </a:txBody>
                  <a:tcPr marL="91440" marR="91440" marT="45720" marB="45720" anchor="ctr">
                    <a:solidFill>
                      <a:srgbClr val="102D32"/>
                    </a:solidFill>
                  </a:tcPr>
                </a:tc>
              </a:tr>
              <a:tr h="885825"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1 isolated suite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120 collected / 120 passed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Supplied checks on clean closeout 350e3d9.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</a:tr>
              <a:tr h="885825"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2 probe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 collected / 0 passed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First failure stops probe; no folder or credit.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</a:tr>
              <a:tr h="885825"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Offline package check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Exit 0 at 23:46 UTC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  <a:tc>
                  <a:txBody>
                    <a:bodyPr lIns="142875" tIns="114300" rIns="142875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E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Layout, room, mandates and credential patterns.</a:t>
                      </a:r>
                    </a:p>
                  </a:txBody>
                  <a:tcPr marL="91440" marR="91440" marT="45720" marB="45720" anchor="ctr"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environment">
            <a:extLst xmlns:a="http://schemas.openxmlformats.org/drawingml/2006/main">
              <a:ext uri="{FF2B5EF4-FFF2-40B4-BE49-F238E27FC236}">
                <a16:creationId xmlns:a16="http://schemas.microsoft.com/office/drawing/2014/main" id="{E68AFF5C-D2B4-4A29-84DD-2800C091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rPr>
              <a:t>Isolated run: 23:38 UTC, under the existing 2 GiB global VM cap.</a:t>
            </a:r>
          </a:p>
        </p:txBody>
      </p:sp>
      <p:sp>
        <p:nvSpPr>
          <p:cNvPr id="6" name="gate-limit">
            <a:extLst xmlns:a="http://schemas.openxmlformats.org/drawingml/2006/main">
              <a:ext uri="{FF2B5EF4-FFF2-40B4-BE49-F238E27FC236}">
                <a16:creationId xmlns:a16="http://schemas.microsoft.com/office/drawing/2014/main" id="{567BB8F7-0FA1-4893-B10A-47A5B1D9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B5B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9B5B1A"/>
                </a:solidFill>
                <a:latin typeface="Helvetica Neue"/>
                <a:ea typeface="Helvetica Neue"/>
                <a:cs typeface="Helvetica Neue"/>
              </a:rPr>
              <a:t>The receipt defects and independent rejection remain. The four-stage goal is incomplete.</a:t>
            </a:r>
          </a:p>
        </p:txBody>
      </p:sp>
    </p:spTree>
    <p:extLst>
      <p:ext uri="{BB962C8B-B14F-4D97-AF65-F5344CB8AC3E}">
        <p14:creationId xmlns:p14="http://schemas.microsoft.com/office/powerpoint/2010/main" val="1197509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432ADED-1311-4618-8845-ED892B1E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Run closed; submission evidence preserved</a:t>
            </a:r>
          </a:p>
        </p:txBody>
      </p:sp>
      <p:sp>
        <p:nvSpPr>
          <p:cNvPr id="2" name="draft-footer">
            <a:extLst xmlns:a="http://schemas.openxmlformats.org/drawingml/2006/main">
              <a:ext uri="{FF2B5EF4-FFF2-40B4-BE49-F238E27FC236}">
                <a16:creationId xmlns:a16="http://schemas.microsoft.com/office/drawing/2014/main" id="{E1D1D73E-A525-4BDD-B16F-E8DC4BA7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DRAFT / 04 Oct 2026 23:46 UTC / 06</a:t>
            </a:r>
          </a:p>
        </p:txBody>
      </p:sp>
      <p:sp>
        <p:nvSpPr>
          <p:cNvPr id="3" name="tokens">
            <a:extLst xmlns:a="http://schemas.openxmlformats.org/drawingml/2006/main">
              <a:ext uri="{FF2B5EF4-FFF2-40B4-BE49-F238E27FC236}">
                <a16:creationId xmlns:a16="http://schemas.microsoft.com/office/drawing/2014/main" id="{C84D50E4-7CF6-46E2-BE3F-FD8D14CB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619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rPr>
              <a:t>75,831,611</a:t>
            </a:r>
          </a:p>
        </p:txBody>
      </p:sp>
      <p:sp>
        <p:nvSpPr>
          <p:cNvPr id="4" name="token-label">
            <a:extLst xmlns:a="http://schemas.openxmlformats.org/drawingml/2006/main">
              <a:ext uri="{FF2B5EF4-FFF2-40B4-BE49-F238E27FC236}">
                <a16:creationId xmlns:a16="http://schemas.microsoft.com/office/drawing/2014/main" id="{E8BCEDF8-9329-4A42-AC56-FD316224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61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reported tokens, including 74,291,200 cached input</a:t>
            </a:r>
          </a:p>
          <a:p xmlns:a="http://schemas.openxmlformats.org/drawingml/2006/main">
            <a:pPr>
              <a:defRPr sz="1800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(~98% of total); not dollars or account quota</a:t>
            </a:r>
          </a:p>
        </p:txBody>
      </p:sp>
      <p:sp>
        <p:nvSpPr>
          <p:cNvPr id="5" name="elapsed">
            <a:extLst xmlns:a="http://schemas.openxmlformats.org/drawingml/2006/main">
              <a:ext uri="{FF2B5EF4-FFF2-40B4-BE49-F238E27FC236}">
                <a16:creationId xmlns:a16="http://schemas.microsoft.com/office/drawing/2014/main" id="{D8AE1D69-50E4-4479-98EC-A1ADC7E7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rPr>
              <a:t>2h 22m 29s</a:t>
            </a:r>
          </a:p>
        </p:txBody>
      </p:sp>
      <p:sp>
        <p:nvSpPr>
          <p:cNvPr id="6" name="time-label">
            <a:extLst xmlns:a="http://schemas.openxmlformats.org/drawingml/2006/main">
              <a:ext uri="{FF2B5EF4-FFF2-40B4-BE49-F238E27FC236}">
                <a16:creationId xmlns:a16="http://schemas.microsoft.com/office/drawing/2014/main" id="{4CD804C0-F21E-413B-B086-9484BD22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Dispatch to PM final. Workers stopped at 23:33 UTC.</a:t>
            </a:r>
          </a:p>
          <a:p xmlns:a="http://schemas.openxmlformats.org/drawingml/2006/main">
            <a:pPr>
              <a:defRPr sz="172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No owned parent or child worker remained.</a:t>
            </a:r>
          </a:p>
        </p:txBody>
      </p:sp>
      <p:sp>
        <p:nvSpPr>
          <p:cNvPr id="7" name="room">
            <a:extLst xmlns:a="http://schemas.openxmlformats.org/drawingml/2006/main">
              <a:ext uri="{FF2B5EF4-FFF2-40B4-BE49-F238E27FC236}">
                <a16:creationId xmlns:a16="http://schemas.microsoft.com/office/drawing/2014/main" id="{0EA8E4B3-9ADE-48D5-A1D9-CB251C8F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145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7A6E"/>
                </a:solidFill>
                <a:latin typeface="Helvetica Neue"/>
                <a:ea typeface="Helvetica Neue"/>
                <a:cs typeface="Helvetica Neue"/>
              </a:rPr>
              <a:t>Genuine full-session export</a:t>
            </a:r>
          </a:p>
        </p:txBody>
      </p:sp>
      <p:sp>
        <p:nvSpPr>
          <p:cNvPr id="8" name="room-detail">
            <a:extLst xmlns:a="http://schemas.openxmlformats.org/drawingml/2006/main">
              <a:ext uri="{FF2B5EF4-FFF2-40B4-BE49-F238E27FC236}">
                <a16:creationId xmlns:a16="http://schemas.microsoft.com/office/drawing/2014/main" id="{663F1185-0259-4E31-9DF5-D90FA018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14575"/>
            <a:ext cx="4800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4,602 unique events</a:t>
            </a:r>
          </a:p>
          <a:p xmlns:a="http://schemas.openxmlformats.org/drawingml/2006/main">
            <a:pPr>
              <a:defRPr sz="1950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1 human text: the initial dispatch</a:t>
            </a:r>
          </a:p>
          <a:p xmlns:a="http://schemas.openxmlformats.org/drawingml/2006/main">
            <a:pPr>
              <a:defRPr sz="1950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E32"/>
                </a:solidFill>
                <a:latin typeface="Helvetica Neue"/>
                <a:ea typeface="Helvetica Neue"/>
                <a:cs typeface="Helvetica Neue"/>
              </a:rPr>
              <a:t>PM terminal report included</a:t>
            </a:r>
          </a:p>
        </p:txBody>
      </p:sp>
      <p:sp>
        <p:nvSpPr>
          <p:cNvPr id="9" name="privacy">
            <a:extLst xmlns:a="http://schemas.openxmlformats.org/drawingml/2006/main">
              <a:ext uri="{FF2B5EF4-FFF2-40B4-BE49-F238E27FC236}">
                <a16:creationId xmlns:a16="http://schemas.microsoft.com/office/drawing/2014/main" id="{AFFA615A-A7CD-499E-B6A6-A19B0974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67125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Bounded privacy review complete.</a:t>
            </a:r>
          </a:p>
          <a:p xmlns:a="http://schemas.openxmlformats.org/drawingml/2006/main">
            <a:pPr>
              <a:defRPr sz="1800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Supports unchanged private preservation.</a:t>
            </a:r>
          </a:p>
        </p:txBody>
      </p:sp>
      <p:sp>
        <p:nvSpPr>
          <p:cNvPr id="10" name="publication">
            <a:extLst xmlns:a="http://schemas.openxmlformats.org/drawingml/2006/main">
              <a:ext uri="{FF2B5EF4-FFF2-40B4-BE49-F238E27FC236}">
                <a16:creationId xmlns:a16="http://schemas.microsoft.com/office/drawing/2014/main" id="{420C4DAE-60C5-424E-B277-C7182EDC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33900"/>
            <a:ext cx="4800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Package check passed. Public release</a:t>
            </a:r>
          </a:p>
          <a:p xmlns:a="http://schemas.openxmlformats.org/drawingml/2006/main">
            <a:pPr>
              <a:defRPr sz="172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and final submission are not established.</a:t>
            </a:r>
          </a:p>
        </p:txBody>
      </p:sp>
      <p:sp>
        <p:nvSpPr>
          <p:cNvPr id="11" name="video">
            <a:extLst xmlns:a="http://schemas.openxmlformats.org/drawingml/2006/main">
              <a:ext uri="{FF2B5EF4-FFF2-40B4-BE49-F238E27FC236}">
                <a16:creationId xmlns:a16="http://schemas.microsoft.com/office/drawing/2014/main" id="{12CA7AE3-0C11-4C71-93EF-6EC3C32B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B5B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9B5B1A"/>
                </a:solidFill>
                <a:latin typeface="Helvetica Neue"/>
                <a:ea typeface="Helvetica Neue"/>
                <a:cs typeface="Helvetica Neue"/>
              </a:rPr>
              <a:t>Video explicitly deferred by participant. This deck is a draft.</a:t>
            </a:r>
          </a:p>
        </p:txBody>
      </p:sp>
      <p:sp>
        <p:nvSpPr>
          <p:cNvPr id="12" name="authorship">
            <a:extLst xmlns:a="http://schemas.openxmlformats.org/drawingml/2006/main">
              <a:ext uri="{FF2B5EF4-FFF2-40B4-BE49-F238E27FC236}">
                <a16:creationId xmlns:a16="http://schemas.microsoft.com/office/drawing/2014/main" id="{3DFF82F7-1EFD-4318-9661-9D2F484C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06368"/>
                </a:solidFill>
                <a:latin typeface="Helvetica Neue"/>
                <a:ea typeface="Helvetica Neue"/>
                <a:cs typeface="Helvetica Neue"/>
              </a:rPr>
              <a:t>AI-assisted factual narrative; participant review and authorship resolution required.</a:t>
            </a:r>
          </a:p>
        </p:txBody>
      </p:sp>
    </p:spTree>
    <p:extLst>
      <p:ext uri="{BB962C8B-B14F-4D97-AF65-F5344CB8AC3E}">
        <p14:creationId xmlns:p14="http://schemas.microsoft.com/office/powerpoint/2010/main" val="1473286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2026-10-04T23:50:55.8350000Z</dcterms:created>
  <dcterms:modified xsi:type="dcterms:W3CDTF">2026-10-04T23:50:55.8350000Z</dcterms:modified>
</coreProperties>
</file>